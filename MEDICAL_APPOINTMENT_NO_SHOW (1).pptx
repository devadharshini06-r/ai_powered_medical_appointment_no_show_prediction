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Poppins" charset="1" panose="00000500000000000000"/>
      <p:regular r:id="rId22"/>
    </p:embeddedFont>
    <p:embeddedFont>
      <p:font typeface="Etna Sans Serif" charset="1" panose="02000600000000000000"/>
      <p:regular r:id="rId23"/>
    </p:embeddedFont>
    <p:embeddedFont>
      <p:font typeface="Poppins Bold" charset="1" panose="000008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8.png" Type="http://schemas.openxmlformats.org/officeDocument/2006/relationships/image"/><Relationship Id="rId7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919300" y="2949048"/>
            <a:ext cx="840200" cy="8402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82417" y="7428218"/>
            <a:ext cx="746283" cy="74628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4138206">
            <a:off x="16569471" y="8075045"/>
            <a:ext cx="1379657" cy="2759314"/>
          </a:xfrm>
          <a:custGeom>
            <a:avLst/>
            <a:gdLst/>
            <a:ahLst/>
            <a:cxnLst/>
            <a:rect r="r" b="b" t="t" l="l"/>
            <a:pathLst>
              <a:path h="2759314" w="1379657">
                <a:moveTo>
                  <a:pt x="0" y="0"/>
                </a:moveTo>
                <a:lnTo>
                  <a:pt x="1379658" y="0"/>
                </a:lnTo>
                <a:lnTo>
                  <a:pt x="1379658" y="2759315"/>
                </a:lnTo>
                <a:lnTo>
                  <a:pt x="0" y="275931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14015" y="2197779"/>
            <a:ext cx="4063354" cy="3590527"/>
          </a:xfrm>
          <a:custGeom>
            <a:avLst/>
            <a:gdLst/>
            <a:ahLst/>
            <a:cxnLst/>
            <a:rect r="r" b="b" t="t" l="l"/>
            <a:pathLst>
              <a:path h="3590527" w="4063354">
                <a:moveTo>
                  <a:pt x="0" y="0"/>
                </a:moveTo>
                <a:lnTo>
                  <a:pt x="4063353" y="0"/>
                </a:lnTo>
                <a:lnTo>
                  <a:pt x="4063353" y="3590527"/>
                </a:lnTo>
                <a:lnTo>
                  <a:pt x="0" y="35905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323954" y="6612368"/>
            <a:ext cx="7414015" cy="465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619" spc="-8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Devadharshini Radhakrishnan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44805" y="2511454"/>
            <a:ext cx="7389666" cy="159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5"/>
              </a:lnSpc>
            </a:pPr>
            <a:r>
              <a:rPr lang="en-US" sz="11704" spc="8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Medical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44805" y="5088069"/>
            <a:ext cx="14948991" cy="159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5"/>
              </a:lnSpc>
            </a:pPr>
            <a:r>
              <a:rPr lang="en-US" sz="11704" spc="8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No-Show Prediction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35522" y="3659199"/>
            <a:ext cx="9213741" cy="15909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55"/>
              </a:lnSpc>
            </a:pPr>
            <a:r>
              <a:rPr lang="en-US" sz="11704" spc="81">
                <a:solidFill>
                  <a:srgbClr val="8E7DE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Appointment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770" y="5550061"/>
            <a:ext cx="4507551" cy="4474769"/>
          </a:xfrm>
          <a:custGeom>
            <a:avLst/>
            <a:gdLst/>
            <a:ahLst/>
            <a:cxnLst/>
            <a:rect r="r" b="b" t="t" l="l"/>
            <a:pathLst>
              <a:path h="4474769" w="4507551">
                <a:moveTo>
                  <a:pt x="0" y="0"/>
                </a:moveTo>
                <a:lnTo>
                  <a:pt x="4507551" y="0"/>
                </a:lnTo>
                <a:lnTo>
                  <a:pt x="4507551" y="4474770"/>
                </a:lnTo>
                <a:lnTo>
                  <a:pt x="0" y="44747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74530" y="2752077"/>
            <a:ext cx="935126" cy="935126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802671" y="2953068"/>
            <a:ext cx="537049" cy="533143"/>
          </a:xfrm>
          <a:custGeom>
            <a:avLst/>
            <a:gdLst/>
            <a:ahLst/>
            <a:cxnLst/>
            <a:rect r="r" b="b" t="t" l="l"/>
            <a:pathLst>
              <a:path h="533143" w="537049">
                <a:moveTo>
                  <a:pt x="0" y="0"/>
                </a:moveTo>
                <a:lnTo>
                  <a:pt x="537049" y="0"/>
                </a:lnTo>
                <a:lnTo>
                  <a:pt x="537049" y="533143"/>
                </a:lnTo>
                <a:lnTo>
                  <a:pt x="0" y="5331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785354" y="2888322"/>
            <a:ext cx="8328376" cy="49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spc="-94">
                <a:solidFill>
                  <a:srgbClr val="8E7DE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No-Show challenge in  Healthcare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373570"/>
            <a:ext cx="10498960" cy="12261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0"/>
              </a:lnSpc>
            </a:pPr>
            <a:r>
              <a:rPr lang="en-US" sz="9783" spc="68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43852" y="3448708"/>
            <a:ext cx="10434066" cy="105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9"/>
              </a:lnSpc>
            </a:pPr>
            <a:r>
              <a:rPr lang="en-US" sz="2942" spc="-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Missed medical appointments are one of the biggest operational and financial burdens in modern healthcare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08167" y="4787154"/>
            <a:ext cx="9798490" cy="361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5258" indent="-317629" lvl="1">
              <a:lnSpc>
                <a:spcPts val="4119"/>
              </a:lnSpc>
              <a:buFont typeface="Arial"/>
              <a:buChar char="•"/>
            </a:pPr>
            <a:r>
              <a:rPr lang="en-US" sz="2942" spc="-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Globally, 23 - 30% of outpatient appointments are missed </a:t>
            </a:r>
          </a:p>
          <a:p>
            <a:pPr algn="l" marL="635258" indent="-317629" lvl="1">
              <a:lnSpc>
                <a:spcPts val="4119"/>
              </a:lnSpc>
              <a:buFont typeface="Arial"/>
              <a:buChar char="•"/>
            </a:pPr>
            <a:r>
              <a:rPr lang="en-US" sz="2942" spc="-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Consequences: </a:t>
            </a:r>
          </a:p>
          <a:p>
            <a:pPr algn="l">
              <a:lnSpc>
                <a:spcPts val="4119"/>
              </a:lnSpc>
            </a:pPr>
            <a:r>
              <a:rPr lang="en-US" sz="2942" spc="-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-  Wasted clinician time and equipment </a:t>
            </a:r>
          </a:p>
          <a:p>
            <a:pPr algn="l">
              <a:lnSpc>
                <a:spcPts val="4119"/>
              </a:lnSpc>
            </a:pPr>
            <a:r>
              <a:rPr lang="en-US" sz="2942" spc="-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-  Longer waiting lists for other patients </a:t>
            </a:r>
          </a:p>
          <a:p>
            <a:pPr algn="l">
              <a:lnSpc>
                <a:spcPts val="4119"/>
              </a:lnSpc>
            </a:pPr>
            <a:r>
              <a:rPr lang="en-US" sz="2942" spc="-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-  Disrupted continuity of care</a:t>
            </a:r>
          </a:p>
          <a:p>
            <a:pPr algn="l">
              <a:lnSpc>
                <a:spcPts val="4119"/>
              </a:lnSpc>
            </a:pPr>
            <a:r>
              <a:rPr lang="en-US" sz="2942" spc="-9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  -  Revenue loss and inefficient resource allocation 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7012604" y="2116578"/>
            <a:ext cx="635499" cy="635499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14770" y="5550061"/>
            <a:ext cx="413930" cy="413930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4138206">
            <a:off x="16916128" y="8487330"/>
            <a:ext cx="1157715" cy="2315429"/>
          </a:xfrm>
          <a:custGeom>
            <a:avLst/>
            <a:gdLst/>
            <a:ahLst/>
            <a:cxnLst/>
            <a:rect r="r" b="b" t="t" l="l"/>
            <a:pathLst>
              <a:path h="2315429" w="1157715">
                <a:moveTo>
                  <a:pt x="0" y="0"/>
                </a:moveTo>
                <a:lnTo>
                  <a:pt x="1157715" y="0"/>
                </a:lnTo>
                <a:lnTo>
                  <a:pt x="1157715" y="2315430"/>
                </a:lnTo>
                <a:lnTo>
                  <a:pt x="0" y="23154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744727" y="5143500"/>
            <a:ext cx="4830906" cy="3560358"/>
            <a:chOff x="0" y="0"/>
            <a:chExt cx="1342492" cy="98941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2492" cy="989411"/>
            </a:xfrm>
            <a:custGeom>
              <a:avLst/>
              <a:gdLst/>
              <a:ahLst/>
              <a:cxnLst/>
              <a:rect r="r" b="b" t="t" l="l"/>
              <a:pathLst>
                <a:path h="989411" w="1342492">
                  <a:moveTo>
                    <a:pt x="25641" y="0"/>
                  </a:moveTo>
                  <a:lnTo>
                    <a:pt x="1316851" y="0"/>
                  </a:lnTo>
                  <a:cubicBezTo>
                    <a:pt x="1331012" y="0"/>
                    <a:pt x="1342492" y="11480"/>
                    <a:pt x="1342492" y="25641"/>
                  </a:cubicBezTo>
                  <a:lnTo>
                    <a:pt x="1342492" y="963770"/>
                  </a:lnTo>
                  <a:cubicBezTo>
                    <a:pt x="1342492" y="977931"/>
                    <a:pt x="1331012" y="989411"/>
                    <a:pt x="1316851" y="989411"/>
                  </a:cubicBezTo>
                  <a:lnTo>
                    <a:pt x="25641" y="989411"/>
                  </a:lnTo>
                  <a:cubicBezTo>
                    <a:pt x="11480" y="989411"/>
                    <a:pt x="0" y="977931"/>
                    <a:pt x="0" y="963770"/>
                  </a:cubicBezTo>
                  <a:lnTo>
                    <a:pt x="0" y="25641"/>
                  </a:lnTo>
                  <a:cubicBezTo>
                    <a:pt x="0" y="11480"/>
                    <a:pt x="11480" y="0"/>
                    <a:pt x="25641" y="0"/>
                  </a:cubicBezTo>
                  <a:close/>
                </a:path>
              </a:pathLst>
            </a:custGeom>
            <a:solidFill>
              <a:srgbClr val="D7E6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47625"/>
              <a:ext cx="1342492" cy="941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870587" y="5151651"/>
            <a:ext cx="4830906" cy="3560358"/>
            <a:chOff x="0" y="0"/>
            <a:chExt cx="1342492" cy="9894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42492" cy="989411"/>
            </a:xfrm>
            <a:custGeom>
              <a:avLst/>
              <a:gdLst/>
              <a:ahLst/>
              <a:cxnLst/>
              <a:rect r="r" b="b" t="t" l="l"/>
              <a:pathLst>
                <a:path h="989411" w="1342492">
                  <a:moveTo>
                    <a:pt x="25641" y="0"/>
                  </a:moveTo>
                  <a:lnTo>
                    <a:pt x="1316851" y="0"/>
                  </a:lnTo>
                  <a:cubicBezTo>
                    <a:pt x="1331012" y="0"/>
                    <a:pt x="1342492" y="11480"/>
                    <a:pt x="1342492" y="25641"/>
                  </a:cubicBezTo>
                  <a:lnTo>
                    <a:pt x="1342492" y="963770"/>
                  </a:lnTo>
                  <a:cubicBezTo>
                    <a:pt x="1342492" y="977931"/>
                    <a:pt x="1331012" y="989411"/>
                    <a:pt x="1316851" y="989411"/>
                  </a:cubicBezTo>
                  <a:lnTo>
                    <a:pt x="25641" y="989411"/>
                  </a:lnTo>
                  <a:cubicBezTo>
                    <a:pt x="11480" y="989411"/>
                    <a:pt x="0" y="977931"/>
                    <a:pt x="0" y="963770"/>
                  </a:cubicBezTo>
                  <a:lnTo>
                    <a:pt x="0" y="25641"/>
                  </a:lnTo>
                  <a:cubicBezTo>
                    <a:pt x="0" y="11480"/>
                    <a:pt x="11480" y="0"/>
                    <a:pt x="25641" y="0"/>
                  </a:cubicBezTo>
                  <a:close/>
                </a:path>
              </a:pathLst>
            </a:custGeom>
            <a:solidFill>
              <a:srgbClr val="D7E6F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47625"/>
              <a:ext cx="1342492" cy="941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4138206">
            <a:off x="14876913" y="5208552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0" y="0"/>
                </a:lnTo>
                <a:lnTo>
                  <a:pt x="3332720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996446" y="5159803"/>
            <a:ext cx="4830906" cy="3560358"/>
            <a:chOff x="0" y="0"/>
            <a:chExt cx="1342492" cy="9894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2492" cy="989411"/>
            </a:xfrm>
            <a:custGeom>
              <a:avLst/>
              <a:gdLst/>
              <a:ahLst/>
              <a:cxnLst/>
              <a:rect r="r" b="b" t="t" l="l"/>
              <a:pathLst>
                <a:path h="989411" w="1342492">
                  <a:moveTo>
                    <a:pt x="25641" y="0"/>
                  </a:moveTo>
                  <a:lnTo>
                    <a:pt x="1316851" y="0"/>
                  </a:lnTo>
                  <a:cubicBezTo>
                    <a:pt x="1331012" y="0"/>
                    <a:pt x="1342492" y="11480"/>
                    <a:pt x="1342492" y="25641"/>
                  </a:cubicBezTo>
                  <a:lnTo>
                    <a:pt x="1342492" y="963770"/>
                  </a:lnTo>
                  <a:cubicBezTo>
                    <a:pt x="1342492" y="977931"/>
                    <a:pt x="1331012" y="989411"/>
                    <a:pt x="1316851" y="989411"/>
                  </a:cubicBezTo>
                  <a:lnTo>
                    <a:pt x="25641" y="989411"/>
                  </a:lnTo>
                  <a:cubicBezTo>
                    <a:pt x="11480" y="989411"/>
                    <a:pt x="0" y="977931"/>
                    <a:pt x="0" y="963770"/>
                  </a:cubicBezTo>
                  <a:lnTo>
                    <a:pt x="0" y="25641"/>
                  </a:lnTo>
                  <a:cubicBezTo>
                    <a:pt x="0" y="11480"/>
                    <a:pt x="11480" y="0"/>
                    <a:pt x="25641" y="0"/>
                  </a:cubicBezTo>
                  <a:close/>
                </a:path>
              </a:pathLst>
            </a:custGeom>
            <a:solidFill>
              <a:srgbClr val="D7E6F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1342492" cy="94178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234173" y="2116578"/>
            <a:ext cx="413930" cy="41393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14770" y="5550061"/>
            <a:ext cx="413930" cy="41393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4138206">
            <a:off x="16847009" y="9194037"/>
            <a:ext cx="368379" cy="736758"/>
          </a:xfrm>
          <a:custGeom>
            <a:avLst/>
            <a:gdLst/>
            <a:ahLst/>
            <a:cxnLst/>
            <a:rect r="r" b="b" t="t" l="l"/>
            <a:pathLst>
              <a:path h="736758" w="368379">
                <a:moveTo>
                  <a:pt x="0" y="0"/>
                </a:moveTo>
                <a:lnTo>
                  <a:pt x="368379" y="0"/>
                </a:lnTo>
                <a:lnTo>
                  <a:pt x="368379" y="736758"/>
                </a:lnTo>
                <a:lnTo>
                  <a:pt x="0" y="7367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2790612" y="1179544"/>
            <a:ext cx="4678489" cy="3963956"/>
          </a:xfrm>
          <a:custGeom>
            <a:avLst/>
            <a:gdLst/>
            <a:ahLst/>
            <a:cxnLst/>
            <a:rect r="r" b="b" t="t" l="l"/>
            <a:pathLst>
              <a:path h="3963956" w="4678489">
                <a:moveTo>
                  <a:pt x="0" y="0"/>
                </a:moveTo>
                <a:lnTo>
                  <a:pt x="4678489" y="0"/>
                </a:lnTo>
                <a:lnTo>
                  <a:pt x="4678489" y="3963956"/>
                </a:lnTo>
                <a:lnTo>
                  <a:pt x="0" y="39639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3489454" y="3486024"/>
            <a:ext cx="14798546" cy="1124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81"/>
              </a:lnSpc>
            </a:pPr>
            <a:r>
              <a:rPr lang="en-US" sz="9110" spc="63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Goal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017508" y="5995469"/>
            <a:ext cx="4285344" cy="132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474" spc="-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Predict the probability of a patient missing their appointments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43368" y="5964047"/>
            <a:ext cx="4285344" cy="1767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474" spc="-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Enable proactive interventions ( SMS reminders, Overbooking Strategy, Phone Calls)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69227" y="5995469"/>
            <a:ext cx="4285344" cy="13293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3"/>
              </a:lnSpc>
            </a:pPr>
            <a:r>
              <a:rPr lang="en-US" sz="2474" spc="-7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TARGET : Identify high-risk patients (&gt;=70% probability) with high precision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5114" y="9774205"/>
            <a:ext cx="10115479" cy="101154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2478786" y="1646039"/>
            <a:ext cx="8730800" cy="102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8"/>
              </a:lnSpc>
            </a:pPr>
            <a:r>
              <a:rPr lang="en-US" sz="8183" spc="5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Dataset Overview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8093672" y="2533772"/>
            <a:ext cx="413930" cy="41393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21735" y="8844370"/>
            <a:ext cx="413930" cy="41393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3863223">
            <a:off x="10954679" y="8856280"/>
            <a:ext cx="1420779" cy="2841557"/>
          </a:xfrm>
          <a:custGeom>
            <a:avLst/>
            <a:gdLst/>
            <a:ahLst/>
            <a:cxnLst/>
            <a:rect r="r" b="b" t="t" l="l"/>
            <a:pathLst>
              <a:path h="2841557" w="1420779">
                <a:moveTo>
                  <a:pt x="0" y="0"/>
                </a:moveTo>
                <a:lnTo>
                  <a:pt x="1420779" y="0"/>
                </a:lnTo>
                <a:lnTo>
                  <a:pt x="1420779" y="2841557"/>
                </a:lnTo>
                <a:lnTo>
                  <a:pt x="0" y="28415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3010520"/>
            <a:ext cx="2900172" cy="534430"/>
          </a:xfrm>
          <a:custGeom>
            <a:avLst/>
            <a:gdLst/>
            <a:ahLst/>
            <a:cxnLst/>
            <a:rect r="r" b="b" t="t" l="l"/>
            <a:pathLst>
              <a:path h="534430" w="2900172">
                <a:moveTo>
                  <a:pt x="0" y="0"/>
                </a:moveTo>
                <a:lnTo>
                  <a:pt x="2900172" y="0"/>
                </a:lnTo>
                <a:lnTo>
                  <a:pt x="2900172" y="534430"/>
                </a:lnTo>
                <a:lnTo>
                  <a:pt x="0" y="53443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6000"/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166458" y="3683306"/>
            <a:ext cx="8599554" cy="501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5"/>
              </a:lnSpc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Dataset from : https://data.mendeley.com/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94323" y="4440936"/>
            <a:ext cx="10970121" cy="14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Real medical appointment records ( Brazil Region) </a:t>
            </a:r>
          </a:p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Size: 49,593 Appointments</a:t>
            </a:r>
          </a:p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 Period: 2020 - 2022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64644" y="5891484"/>
            <a:ext cx="10970121" cy="244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5"/>
              </a:lnSpc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KEY FEATURES:</a:t>
            </a:r>
          </a:p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Patient: Age, Gender, Disability, City, Needs Companion </a:t>
            </a:r>
          </a:p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Appointment: Specialty, Shift (Morning/afternoon)</a:t>
            </a:r>
          </a:p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Weather: Temperature, Rain intensity, Heat intensity </a:t>
            </a:r>
          </a:p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Temporal: Appointment date, Entry service date, Day of week 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0766011" y="2235138"/>
            <a:ext cx="5094404" cy="3742071"/>
          </a:xfrm>
          <a:custGeom>
            <a:avLst/>
            <a:gdLst/>
            <a:ahLst/>
            <a:cxnLst/>
            <a:rect r="r" b="b" t="t" l="l"/>
            <a:pathLst>
              <a:path h="3742071" w="5094404">
                <a:moveTo>
                  <a:pt x="0" y="0"/>
                </a:moveTo>
                <a:lnTo>
                  <a:pt x="5094404" y="0"/>
                </a:lnTo>
                <a:lnTo>
                  <a:pt x="5094404" y="3742071"/>
                </a:lnTo>
                <a:lnTo>
                  <a:pt x="0" y="37420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35046" y="8467837"/>
            <a:ext cx="10115479" cy="101154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4116180" y="3273384"/>
            <a:ext cx="9870183" cy="9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Show = ~88-90% | No-Show : ~ 10-12%</a:t>
            </a:r>
          </a:p>
          <a:p>
            <a:pPr algn="just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Slightly imbalanced → used F1-Score as primary metrics 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665362" y="3593296"/>
            <a:ext cx="413930" cy="41393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637759" y="7561227"/>
            <a:ext cx="1329123" cy="132912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1761112">
            <a:off x="17883024" y="2523120"/>
            <a:ext cx="1277142" cy="2554283"/>
          </a:xfrm>
          <a:custGeom>
            <a:avLst/>
            <a:gdLst/>
            <a:ahLst/>
            <a:cxnLst/>
            <a:rect r="r" b="b" t="t" l="l"/>
            <a:pathLst>
              <a:path h="2554283" w="1277142">
                <a:moveTo>
                  <a:pt x="0" y="0"/>
                </a:moveTo>
                <a:lnTo>
                  <a:pt x="1277142" y="0"/>
                </a:lnTo>
                <a:lnTo>
                  <a:pt x="1277142" y="2554283"/>
                </a:lnTo>
                <a:lnTo>
                  <a:pt x="0" y="25542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1647552">
            <a:off x="16855235" y="-2648332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0" y="0"/>
                </a:lnTo>
                <a:lnTo>
                  <a:pt x="3332720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296296" y="6478586"/>
            <a:ext cx="3991704" cy="3494404"/>
          </a:xfrm>
          <a:custGeom>
            <a:avLst/>
            <a:gdLst/>
            <a:ahLst/>
            <a:cxnLst/>
            <a:rect r="r" b="b" t="t" l="l"/>
            <a:pathLst>
              <a:path h="3494404" w="3991704">
                <a:moveTo>
                  <a:pt x="0" y="0"/>
                </a:moveTo>
                <a:lnTo>
                  <a:pt x="3991704" y="0"/>
                </a:lnTo>
                <a:lnTo>
                  <a:pt x="3991704" y="3494404"/>
                </a:lnTo>
                <a:lnTo>
                  <a:pt x="0" y="34944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1247775"/>
            <a:ext cx="10609059" cy="1021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8"/>
              </a:lnSpc>
            </a:pPr>
            <a:r>
              <a:rPr lang="en-US" sz="8183" spc="5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Target Distribution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77111" y="4784938"/>
            <a:ext cx="11487950" cy="14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35"/>
              </a:lnSpc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Goal: Reduce no-show rates by 20–40%, save costs, and improve patient care – all with a ready-to-deploy tool.</a:t>
            </a:r>
          </a:p>
          <a:p>
            <a:pPr algn="just">
              <a:lnSpc>
                <a:spcPts val="3835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14381" y="1690864"/>
            <a:ext cx="5263116" cy="4114800"/>
          </a:xfrm>
          <a:custGeom>
            <a:avLst/>
            <a:gdLst/>
            <a:ahLst/>
            <a:cxnLst/>
            <a:rect r="r" b="b" t="t" l="l"/>
            <a:pathLst>
              <a:path h="4114800" w="5263116">
                <a:moveTo>
                  <a:pt x="0" y="0"/>
                </a:moveTo>
                <a:lnTo>
                  <a:pt x="5263116" y="0"/>
                </a:lnTo>
                <a:lnTo>
                  <a:pt x="526311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03001" y="2845294"/>
            <a:ext cx="7284801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IDENTIFICATION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 no-show causes revenue loss and inefficiency in the clinics 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-300423" y="696168"/>
            <a:ext cx="1703424" cy="1703424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918069"/>
            <a:ext cx="14019378" cy="139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Workflow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0441" y="4764899"/>
            <a:ext cx="8975743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Raw dataset: Medical appointment no show.csv file with 49k real appointments from Brazilian rehabilitation/ psych clinics 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742968" y="5674577"/>
            <a:ext cx="10115479" cy="10115479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038389" y="6976795"/>
            <a:ext cx="8975743" cy="1995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CLEANING &amp; EXPLORATION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Handle missing values &amp; outliers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Convert dates and remove noise columns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Fix inconsistent categories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687710"/>
            <a:ext cx="15015225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FEATURE ENGINEERING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Created powerful predictors :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Days in advance ( appointment_date - entry_service_date) → strongest feature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Appointment month, day of week, year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Demographic ( Birth year, Age, Gender)</a:t>
            </a:r>
          </a:p>
          <a:p>
            <a:pPr algn="l" marL="539749" indent="-269875" lvl="1">
              <a:lnSpc>
                <a:spcPts val="3499"/>
              </a:lnSpc>
              <a:buAutoNum type="arabicPeriod" startAt="1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Weather features (rain_intensity, heat_intensity, rain_day_before, etc.,)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00423" y="696168"/>
            <a:ext cx="1703424" cy="17034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8069"/>
            <a:ext cx="14019378" cy="139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42968" y="5674577"/>
            <a:ext cx="10115479" cy="101154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5090" y="6101467"/>
            <a:ext cx="14244210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PREPROCESSING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Using LabelEncoder to convert the continuous categorical values into numerical values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Split the dataset into a train set and a test set with the help of train_test_split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MinMaxScaler to give the value from 0 to 1 for x_train and x_test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3458" y="2369185"/>
            <a:ext cx="15015225" cy="5462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USED</a:t>
            </a:r>
          </a:p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FROM SCIKIT-LEARN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LINEAR_MODEL</a:t>
            </a: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LogisticRegression (Linear - Baseline model)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ENSEMBLE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GradientBoostingClassifier (Ensemble - Boosting)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ExtraTreeClassifier (Ensemble - Extreme Bagging)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RandomForestClassifier (Ensemble - Bagging)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AdaBoost Classifier (Boosting)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NEIGHBORS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KNeighborsClassifier (Instance-Based)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00423" y="696168"/>
            <a:ext cx="1703424" cy="17034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781329" y="876300"/>
            <a:ext cx="14019378" cy="139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Workflow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3742968" y="5674577"/>
            <a:ext cx="10115479" cy="10115479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869810" y="8253095"/>
            <a:ext cx="10170518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CatBoostClassifier (Gradient Boosting for categorical)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XGBoostClassifier (Optimized Gradient Boosting)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423" y="696168"/>
            <a:ext cx="1703424" cy="1703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742968" y="5674577"/>
            <a:ext cx="10115479" cy="10115479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2223" y="5221662"/>
            <a:ext cx="6590430" cy="4036638"/>
          </a:xfrm>
          <a:custGeom>
            <a:avLst/>
            <a:gdLst/>
            <a:ahLst/>
            <a:cxnLst/>
            <a:rect r="r" b="b" t="t" l="l"/>
            <a:pathLst>
              <a:path h="4036638" w="6590430">
                <a:moveTo>
                  <a:pt x="0" y="0"/>
                </a:moveTo>
                <a:lnTo>
                  <a:pt x="6590430" y="0"/>
                </a:lnTo>
                <a:lnTo>
                  <a:pt x="6590430" y="4036638"/>
                </a:lnTo>
                <a:lnTo>
                  <a:pt x="0" y="403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843222" y="4976607"/>
            <a:ext cx="6295644" cy="4281693"/>
          </a:xfrm>
          <a:custGeom>
            <a:avLst/>
            <a:gdLst/>
            <a:ahLst/>
            <a:cxnLst/>
            <a:rect r="r" b="b" t="t" l="l"/>
            <a:pathLst>
              <a:path h="4281693" w="6295644">
                <a:moveTo>
                  <a:pt x="0" y="0"/>
                </a:moveTo>
                <a:lnTo>
                  <a:pt x="6295645" y="0"/>
                </a:lnTo>
                <a:lnTo>
                  <a:pt x="6295645" y="4281693"/>
                </a:lnTo>
                <a:lnTo>
                  <a:pt x="0" y="42816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02223" y="4485112"/>
            <a:ext cx="1501522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BEFORE TUNING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918069"/>
            <a:ext cx="14019378" cy="139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Workflow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43222" y="4288554"/>
            <a:ext cx="15015225" cy="509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AFTER TUNING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2688998"/>
            <a:ext cx="15015225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HYPERPARAMETER TUNING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RandomizedSearchCV - It often finds better models faster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from model_selection in scikit-learn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423" y="696168"/>
            <a:ext cx="1703424" cy="1703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57823" y="5581207"/>
            <a:ext cx="5605685" cy="3485324"/>
          </a:xfrm>
          <a:custGeom>
            <a:avLst/>
            <a:gdLst/>
            <a:ahLst/>
            <a:cxnLst/>
            <a:rect r="r" b="b" t="t" l="l"/>
            <a:pathLst>
              <a:path h="3485324" w="5605685">
                <a:moveTo>
                  <a:pt x="0" y="0"/>
                </a:moveTo>
                <a:lnTo>
                  <a:pt x="5605685" y="0"/>
                </a:lnTo>
                <a:lnTo>
                  <a:pt x="5605685" y="3485324"/>
                </a:lnTo>
                <a:lnTo>
                  <a:pt x="0" y="34853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02" t="0" r="-1302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63508" y="5581207"/>
            <a:ext cx="6204241" cy="3485324"/>
          </a:xfrm>
          <a:custGeom>
            <a:avLst/>
            <a:gdLst/>
            <a:ahLst/>
            <a:cxnLst/>
            <a:rect r="r" b="b" t="t" l="l"/>
            <a:pathLst>
              <a:path h="3485324" w="6204241">
                <a:moveTo>
                  <a:pt x="0" y="0"/>
                </a:moveTo>
                <a:lnTo>
                  <a:pt x="6204241" y="0"/>
                </a:lnTo>
                <a:lnTo>
                  <a:pt x="6204241" y="3485324"/>
                </a:lnTo>
                <a:lnTo>
                  <a:pt x="0" y="34853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02" t="0" r="-1302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18069"/>
            <a:ext cx="14019378" cy="139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Workflow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7823" y="2771410"/>
            <a:ext cx="15794502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AND EVALUATION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Tested 8 algorithms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Winner → Gradient Boosting Classifier (n_estimators = 500, max_depth = 7, learning_rate = 0.05, subsample = 0.9)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Final Metrics on test set: (Accuracy 90.3% | F1-Score 87.95% | ROC-AUC 0.7645)</a:t>
            </a:r>
          </a:p>
          <a:p>
            <a:pPr algn="l">
              <a:lnSpc>
                <a:spcPts val="3919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3001" y="2845294"/>
            <a:ext cx="7284801" cy="100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MODEL SAVING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Saved as pkl file using pickle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-300423" y="696168"/>
            <a:ext cx="1703424" cy="1703424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28700" y="918069"/>
            <a:ext cx="14019378" cy="139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Workflow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33970" y="4383899"/>
            <a:ext cx="12716271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PREDICTION ON TEST SET + RESULT FILE </a:t>
            </a:r>
          </a:p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Generate final csv file containing : Actual_no_show | Predicted_Class | Predicted_Prob (for every test appointment)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742968" y="5674577"/>
            <a:ext cx="10115479" cy="10115479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00423" y="696168"/>
            <a:ext cx="1703424" cy="1703424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918069"/>
            <a:ext cx="14019378" cy="1393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10"/>
              </a:lnSpc>
            </a:pPr>
            <a:r>
              <a:rPr lang="en-US" sz="8150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Project Workflow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3742968" y="5674577"/>
            <a:ext cx="10115479" cy="10115479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94877" y="2933505"/>
            <a:ext cx="15116443" cy="2491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DEPLOYMENT - TWO STREAMLIT WEB APPS </a:t>
            </a:r>
          </a:p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Analytics dashboard 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Overall model performance metrics 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ROC Curve, Probability distribution, Feature Importance 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High-Risk Patients table ( Predicted_prob &gt;=70%)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94877" y="5828959"/>
            <a:ext cx="15116443" cy="1500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b="true" sz="2799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Live Prediction Tool 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User enters patient + Appointment _ Weather details</a:t>
            </a:r>
          </a:p>
          <a:p>
            <a:pPr algn="just" marL="604519" indent="-302260" lvl="1">
              <a:lnSpc>
                <a:spcPts val="3919"/>
              </a:lnSpc>
              <a:buAutoNum type="arabicPeriod" startAt="1"/>
            </a:pPr>
            <a:r>
              <a:rPr lang="en-US" sz="27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Instant risk score + Gauge + Recommendation ( Low / Medium / High)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3849802" y="5143500"/>
            <a:ext cx="13816762" cy="13816762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34173" y="2116578"/>
            <a:ext cx="413930" cy="41393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14770" y="5550061"/>
            <a:ext cx="413930" cy="4139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4138206">
            <a:off x="16432407" y="9108387"/>
            <a:ext cx="368379" cy="736758"/>
          </a:xfrm>
          <a:custGeom>
            <a:avLst/>
            <a:gdLst/>
            <a:ahLst/>
            <a:cxnLst/>
            <a:rect r="r" b="b" t="t" l="l"/>
            <a:pathLst>
              <a:path h="736758" w="368379">
                <a:moveTo>
                  <a:pt x="0" y="0"/>
                </a:moveTo>
                <a:lnTo>
                  <a:pt x="368379" y="0"/>
                </a:lnTo>
                <a:lnTo>
                  <a:pt x="368379" y="736759"/>
                </a:lnTo>
                <a:lnTo>
                  <a:pt x="0" y="7367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90523" y="1328471"/>
            <a:ext cx="8053477" cy="5264961"/>
          </a:xfrm>
          <a:custGeom>
            <a:avLst/>
            <a:gdLst/>
            <a:ahLst/>
            <a:cxnLst/>
            <a:rect r="r" b="b" t="t" l="l"/>
            <a:pathLst>
              <a:path h="5264961" w="8053477">
                <a:moveTo>
                  <a:pt x="0" y="0"/>
                </a:moveTo>
                <a:lnTo>
                  <a:pt x="8053477" y="0"/>
                </a:lnTo>
                <a:lnTo>
                  <a:pt x="8053477" y="5264961"/>
                </a:lnTo>
                <a:lnTo>
                  <a:pt x="0" y="526496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265975" y="6293661"/>
            <a:ext cx="5578731" cy="3471392"/>
          </a:xfrm>
          <a:custGeom>
            <a:avLst/>
            <a:gdLst/>
            <a:ahLst/>
            <a:cxnLst/>
            <a:rect r="r" b="b" t="t" l="l"/>
            <a:pathLst>
              <a:path h="3471392" w="5578731">
                <a:moveTo>
                  <a:pt x="0" y="0"/>
                </a:moveTo>
                <a:lnTo>
                  <a:pt x="5578731" y="0"/>
                </a:lnTo>
                <a:lnTo>
                  <a:pt x="5578731" y="3471392"/>
                </a:lnTo>
                <a:lnTo>
                  <a:pt x="0" y="34713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434459" y="1162050"/>
            <a:ext cx="5509255" cy="1240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3"/>
              </a:lnSpc>
            </a:pPr>
            <a:r>
              <a:rPr lang="en-US" sz="5133" spc="35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LIVE PREDICTION TOOL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966960" y="2940088"/>
            <a:ext cx="7755492" cy="244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5"/>
              </a:lnSpc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Input patient details → Real-Time risk score </a:t>
            </a:r>
          </a:p>
          <a:p>
            <a:pPr algn="l">
              <a:lnSpc>
                <a:spcPts val="3835"/>
              </a:lnSpc>
            </a:pPr>
          </a:p>
          <a:p>
            <a:pPr algn="l">
              <a:lnSpc>
                <a:spcPts val="3835"/>
              </a:lnSpc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OUTPUT:</a:t>
            </a:r>
          </a:p>
          <a:p>
            <a:pPr algn="l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Probability ( e.g., 78%)</a:t>
            </a:r>
          </a:p>
          <a:p>
            <a:pPr algn="l" marL="591561" indent="-295780" lvl="1">
              <a:lnSpc>
                <a:spcPts val="3835"/>
              </a:lnSpc>
              <a:buFont typeface="Arial"/>
              <a:buChar char="•"/>
            </a:pPr>
            <a:r>
              <a:rPr lang="en-US" sz="2739" spc="-8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Risk Level: Low/ Medium / High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35046" y="8467837"/>
            <a:ext cx="10115479" cy="101154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59500" y="2518563"/>
            <a:ext cx="413930" cy="41393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66465" y="8225788"/>
            <a:ext cx="413930" cy="4139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3863223">
            <a:off x="17345049" y="4440372"/>
            <a:ext cx="368379" cy="736758"/>
          </a:xfrm>
          <a:custGeom>
            <a:avLst/>
            <a:gdLst/>
            <a:ahLst/>
            <a:cxnLst/>
            <a:rect r="r" b="b" t="t" l="l"/>
            <a:pathLst>
              <a:path h="736758" w="368379">
                <a:moveTo>
                  <a:pt x="0" y="0"/>
                </a:moveTo>
                <a:lnTo>
                  <a:pt x="368379" y="0"/>
                </a:lnTo>
                <a:lnTo>
                  <a:pt x="368379" y="736758"/>
                </a:lnTo>
                <a:lnTo>
                  <a:pt x="0" y="736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647552">
            <a:off x="16855235" y="-2648332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0" y="0"/>
                </a:lnTo>
                <a:lnTo>
                  <a:pt x="3332720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1028700" y="3503682"/>
          <a:ext cx="15521439" cy="4991100"/>
        </p:xfrm>
        <a:graphic>
          <a:graphicData uri="http://schemas.openxmlformats.org/drawingml/2006/table">
            <a:tbl>
              <a:tblPr/>
              <a:tblGrid>
                <a:gridCol w="5098686"/>
                <a:gridCol w="3258068"/>
                <a:gridCol w="7164685"/>
              </a:tblGrid>
              <a:tr h="11229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LEVEL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PROBABILITY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000000"/>
                          </a:solidFill>
                          <a:latin typeface="Poppins Bold"/>
                          <a:ea typeface="Poppins Bold"/>
                          <a:cs typeface="Poppins Bold"/>
                          <a:sym typeface="Poppins Bold"/>
                        </a:rPr>
                        <a:t>RECOMMENDED ACTION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29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&gt;=70%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CALL + SMS + Confirm Appointment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221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30-69%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Automated SMS/ Whatapp remainder 2 days Before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299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&lt; 30%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Standard Protocol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1028700" y="1247775"/>
            <a:ext cx="14477494" cy="1971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28"/>
              </a:lnSpc>
            </a:pPr>
            <a:r>
              <a:rPr lang="en-US" sz="8183" spc="57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BUSINESS IMPACT &amp; RECCOMENDATIONS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35046" y="8467837"/>
            <a:ext cx="10115479" cy="1011547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F6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23825"/>
              <a:ext cx="660400" cy="6127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759500" y="2518563"/>
            <a:ext cx="413930" cy="41393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966465" y="8225788"/>
            <a:ext cx="413930" cy="413930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3863223">
            <a:off x="17345049" y="4440372"/>
            <a:ext cx="368379" cy="736758"/>
          </a:xfrm>
          <a:custGeom>
            <a:avLst/>
            <a:gdLst/>
            <a:ahLst/>
            <a:cxnLst/>
            <a:rect r="r" b="b" t="t" l="l"/>
            <a:pathLst>
              <a:path h="736758" w="368379">
                <a:moveTo>
                  <a:pt x="0" y="0"/>
                </a:moveTo>
                <a:lnTo>
                  <a:pt x="368379" y="0"/>
                </a:lnTo>
                <a:lnTo>
                  <a:pt x="368379" y="736758"/>
                </a:lnTo>
                <a:lnTo>
                  <a:pt x="0" y="736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1647552">
            <a:off x="16855235" y="-2648332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0" y="0"/>
                </a:lnTo>
                <a:lnTo>
                  <a:pt x="3332720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3592680">
            <a:off x="-1478517" y="7399596"/>
            <a:ext cx="3332720" cy="6665441"/>
          </a:xfrm>
          <a:custGeom>
            <a:avLst/>
            <a:gdLst/>
            <a:ahLst/>
            <a:cxnLst/>
            <a:rect r="r" b="b" t="t" l="l"/>
            <a:pathLst>
              <a:path h="6665441" w="3332720">
                <a:moveTo>
                  <a:pt x="0" y="0"/>
                </a:moveTo>
                <a:lnTo>
                  <a:pt x="3332721" y="0"/>
                </a:lnTo>
                <a:lnTo>
                  <a:pt x="3332721" y="6665441"/>
                </a:lnTo>
                <a:lnTo>
                  <a:pt x="0" y="66654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1219200"/>
            <a:ext cx="12229661" cy="85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59"/>
              </a:lnSpc>
            </a:pPr>
            <a:r>
              <a:rPr lang="en-US" sz="6912" spc="48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FUTURE ENHANCEMENTS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098400" y="2199262"/>
            <a:ext cx="9836646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Integrate with the hospital management system (API)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</a:t>
            </a: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SMS/WhatsApp automation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Deploy on cloud (Streamlit Community Cloud / AWS)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Retrain monthly with new data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Add patient historical no-show count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339405" y="5566667"/>
            <a:ext cx="11535646" cy="8171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8"/>
              </a:lnSpc>
            </a:pPr>
            <a:r>
              <a:rPr lang="en-US" sz="6520" spc="45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CONCLUSION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918337" y="6689723"/>
            <a:ext cx="10924116" cy="2986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Successfully built an accurate, interpretable, and deployable no-show prediction system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</a:t>
            </a: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ady for real-world use in clinics/hospitals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Font typeface="Arial"/>
              <a:buChar char="•"/>
            </a:pPr>
            <a:r>
              <a:rPr lang="en-US" sz="2799" spc="-5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Proven potential to save time, money, and improve patient care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345570" y="2949048"/>
            <a:ext cx="413930" cy="41393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E7DE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14770" y="7428218"/>
            <a:ext cx="413930" cy="41393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2C6F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0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4138206">
            <a:off x="10729825" y="8787349"/>
            <a:ext cx="368379" cy="736758"/>
          </a:xfrm>
          <a:custGeom>
            <a:avLst/>
            <a:gdLst/>
            <a:ahLst/>
            <a:cxnLst/>
            <a:rect r="r" b="b" t="t" l="l"/>
            <a:pathLst>
              <a:path h="736758" w="368379">
                <a:moveTo>
                  <a:pt x="0" y="0"/>
                </a:moveTo>
                <a:lnTo>
                  <a:pt x="368379" y="0"/>
                </a:lnTo>
                <a:lnTo>
                  <a:pt x="368379" y="736758"/>
                </a:lnTo>
                <a:lnTo>
                  <a:pt x="0" y="7367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009180" y="2218581"/>
            <a:ext cx="6500920" cy="5744449"/>
          </a:xfrm>
          <a:custGeom>
            <a:avLst/>
            <a:gdLst/>
            <a:ahLst/>
            <a:cxnLst/>
            <a:rect r="r" b="b" t="t" l="l"/>
            <a:pathLst>
              <a:path h="5744449" w="6500920">
                <a:moveTo>
                  <a:pt x="0" y="0"/>
                </a:moveTo>
                <a:lnTo>
                  <a:pt x="6500920" y="0"/>
                </a:lnTo>
                <a:lnTo>
                  <a:pt x="6500920" y="5744449"/>
                </a:lnTo>
                <a:lnTo>
                  <a:pt x="0" y="57444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45354" y="2625754"/>
            <a:ext cx="7827367" cy="254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8"/>
              </a:lnSpc>
            </a:pPr>
            <a:r>
              <a:rPr lang="en-US" sz="18726" spc="131">
                <a:solidFill>
                  <a:srgbClr val="000000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Thank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35522" y="4462117"/>
            <a:ext cx="9759486" cy="254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88"/>
              </a:lnSpc>
            </a:pPr>
            <a:r>
              <a:rPr lang="en-US" sz="18726" spc="131">
                <a:solidFill>
                  <a:srgbClr val="8E7DE4"/>
                </a:solidFill>
                <a:latin typeface="Etna Sans Serif"/>
                <a:ea typeface="Etna Sans Serif"/>
                <a:cs typeface="Etna Sans Serif"/>
                <a:sym typeface="Etna Sans Serif"/>
              </a:rPr>
              <a:t>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DAG5CTETGzk</dc:identifier>
  <dcterms:modified xsi:type="dcterms:W3CDTF">2011-08-01T06:04:30Z</dcterms:modified>
  <cp:revision>1</cp:revision>
  <dc:title>MEDICAL_APPOINTMENT_NO_SHOW</dc:title>
</cp:coreProperties>
</file>